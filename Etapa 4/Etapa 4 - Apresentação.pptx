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9" r:id="rId3"/>
    <p:sldId id="260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25/05/2026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25/05/2026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Analise de sentimento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VADER (Valence Aware Dictionary and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sEntiment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Reasoner) 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m 4" descr="Uma imagem contendo prédio, banco, bancada, lateral&#10;&#10;Descrição gerad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B5DD8-9003-24FA-3E4D-85E3AE10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7DD37C-D733-F434-E79B-994CBA2F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Dados disponíveis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Distribuição geral dos dados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O modelo VADER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77748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B7053-86CB-49C5-3355-DE3A9770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disponíveis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3469C4-8A03-703F-7245-057F1C0EA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Reviews existentes no marketplace da </a:t>
            </a:r>
            <a:r>
              <a:rPr lang="pt-BR" dirty="0" err="1"/>
              <a:t>Amazon</a:t>
            </a:r>
            <a:r>
              <a:rPr lang="pt-BR" dirty="0"/>
              <a:t> para o produto ‘</a:t>
            </a:r>
            <a:r>
              <a:rPr lang="en-US" dirty="0"/>
              <a:t>Fire HD 7, 7" HD Display, Wi-Fi, 8 GB’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30840 reviews de 10/2014 </a:t>
            </a:r>
            <a:r>
              <a:rPr lang="en-US" dirty="0" err="1"/>
              <a:t>até</a:t>
            </a:r>
            <a:r>
              <a:rPr lang="en-US" dirty="0"/>
              <a:t> 08/2015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Rating de 1 a 5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Headline e </a:t>
            </a:r>
            <a:r>
              <a:rPr lang="en-US" dirty="0" err="1"/>
              <a:t>corpo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da review </a:t>
            </a:r>
            <a:r>
              <a:rPr lang="en-US" dirty="0" err="1"/>
              <a:t>disponíveis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9259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98C2F-1D26-4887-FFBF-0EF5AEF6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geral dos dados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E86062AC-864B-9FB7-0CE6-494982B71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07" y="2211705"/>
            <a:ext cx="5008873" cy="376078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76B8CC1-9569-C249-ABEB-D42CCDE5B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69205"/>
            <a:ext cx="4978393" cy="38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7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1D3C2-FA86-F190-994D-B05EAA5B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geral dos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565EC5-8209-CB61-501C-D601B5CE3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dirty="0" err="1"/>
              <a:t>Headline</a:t>
            </a:r>
            <a:endParaRPr lang="pt-BR" dirty="0"/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A0BFA6C3-DD70-73CB-FAD2-F9D05B8E2C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3106769"/>
            <a:ext cx="4640262" cy="2612963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A14F49-2846-57FD-C02F-53D2B9505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pt-BR" dirty="0"/>
              <a:t>Corpo do texto</a:t>
            </a:r>
          </a:p>
        </p:txBody>
      </p:sp>
      <p:pic>
        <p:nvPicPr>
          <p:cNvPr id="19" name="Espaço Reservado para Conteúdo 18">
            <a:extLst>
              <a:ext uri="{FF2B5EF4-FFF2-40B4-BE49-F238E27FC236}">
                <a16:creationId xmlns:a16="http://schemas.microsoft.com/office/drawing/2014/main" id="{32B0C53B-4AE7-3AA1-7EC3-0E37C216204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16688" y="3107216"/>
            <a:ext cx="4638675" cy="26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1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E8BEC-6521-3CD2-2825-E438996C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geral dos dados</a:t>
            </a:r>
          </a:p>
        </p:txBody>
      </p:sp>
      <p:pic>
        <p:nvPicPr>
          <p:cNvPr id="18" name="Espaço Reservado para Conteúdo 17">
            <a:extLst>
              <a:ext uri="{FF2B5EF4-FFF2-40B4-BE49-F238E27FC236}">
                <a16:creationId xmlns:a16="http://schemas.microsoft.com/office/drawing/2014/main" id="{90A8F18E-4DE3-D9BC-9E8F-D21CD638B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887" y="2108200"/>
            <a:ext cx="8912552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9C17-1881-D25E-E1FA-BBFCA8C5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F844C-A15F-A1DD-13FF-4E004623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geral dos dados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D4A73EA2-D01F-C453-578E-FD6AF92A5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508225"/>
            <a:ext cx="10058400" cy="296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04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F4AB1-DB42-88F8-239D-A16E272C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modelo VADER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4C651-7808-E055-C5F9-582C3437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289172" cy="376089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Léxico de valência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Heurística de contexto</a:t>
            </a:r>
          </a:p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E07193F-6B2C-0E02-D957-52468206A96C}"/>
                  </a:ext>
                </a:extLst>
              </p:cNvPr>
              <p:cNvSpPr txBox="1"/>
              <p:nvPr/>
            </p:nvSpPr>
            <p:spPr>
              <a:xfrm>
                <a:off x="1097280" y="4053904"/>
                <a:ext cx="3050968" cy="618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𝐶𝑜𝑚𝑝𝑜𝑢𝑛𝑑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E07193F-6B2C-0E02-D957-52468206A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053904"/>
                <a:ext cx="3050968" cy="618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09ED8D-D998-CBD5-D338-43AC4E5B786E}"/>
                  </a:ext>
                </a:extLst>
              </p:cNvPr>
              <p:cNvSpPr txBox="1"/>
              <p:nvPr/>
            </p:nvSpPr>
            <p:spPr>
              <a:xfrm>
                <a:off x="4705298" y="4053904"/>
                <a:ext cx="6097978" cy="664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𝐴𝑐𝑢𝑟</m:t>
                      </m:r>
                      <m:r>
                        <a:rPr lang="pt-BR" i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𝑐𝑖𝑎</m:t>
                      </m:r>
                      <m:r>
                        <a:rPr lang="pt-BR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𝑝𝑟𝑒𝑣𝑖𝑠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õ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𝑐𝑜𝑟𝑟𝑒𝑡𝑎𝑠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𝑎𝑣𝑎𝑙𝑖𝑎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çõ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𝑎𝑛𝑎𝑙𝑖𝑠𝑎𝑑𝑎𝑠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09ED8D-D998-CBD5-D338-43AC4E5B7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298" y="4053904"/>
                <a:ext cx="6097978" cy="6649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92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34D29-635D-E2A2-AA7B-9F2C4751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método VADER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703D698-AFFE-B1D3-3A9B-9E1816693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325350"/>
            <a:ext cx="10058400" cy="3326488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7143E6F9-E514-F0F7-8CFB-F7D79D04C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30870"/>
              </p:ext>
            </p:extLst>
          </p:nvPr>
        </p:nvGraphicFramePr>
        <p:xfrm>
          <a:off x="599440" y="5651838"/>
          <a:ext cx="10555924" cy="494962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051504289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429334175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4237798708"/>
                    </a:ext>
                  </a:extLst>
                </a:gridCol>
                <a:gridCol w="3261044">
                  <a:extLst>
                    <a:ext uri="{9D8B030D-6E8A-4147-A177-3AD203B41FA5}">
                      <a16:colId xmlns:a16="http://schemas.microsoft.com/office/drawing/2014/main" val="3970108378"/>
                    </a:ext>
                  </a:extLst>
                </a:gridCol>
              </a:tblGrid>
              <a:tr h="247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 err="1">
                          <a:effectLst/>
                        </a:rPr>
                        <a:t>Headline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body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geral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99524846"/>
                  </a:ext>
                </a:extLst>
              </a:tr>
              <a:tr h="247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Acurácia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43,6%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82,0%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83,4%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591564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471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5BDC8-5C10-AFFD-BB79-FC303043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método VADER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8BF0B164-2947-ABC1-ED30-83DFA6F60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857" y="2108200"/>
            <a:ext cx="7624611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0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7DFEB-C2F7-AE25-61D9-661F0437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passos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A4F1A9-30F4-34EE-CD18-139FD11BE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Analise manual dos falsos positivos e negativos classificados pelo VADER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Aplicação de sistema de nota autônomo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Priorização das vendas verificadas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AA486-6ADC-8404-9608-6A9048E5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Muito obrigado!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9C1FFE-345A-F49D-33FC-EF4C56B28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Henrique Sarmento – 10738262</a:t>
            </a:r>
          </a:p>
          <a:p>
            <a:r>
              <a:rPr lang="pt-BR" dirty="0"/>
              <a:t>Luiz </a:t>
            </a:r>
            <a:r>
              <a:rPr lang="pt-BR" dirty="0" err="1"/>
              <a:t>Berlandi</a:t>
            </a:r>
            <a:r>
              <a:rPr lang="pt-BR" dirty="0"/>
              <a:t> Neto – 10724617</a:t>
            </a:r>
          </a:p>
          <a:p>
            <a:r>
              <a:rPr lang="pt-BR" dirty="0"/>
              <a:t>Igor Eduardo </a:t>
            </a:r>
            <a:r>
              <a:rPr lang="pt-BR" dirty="0" err="1"/>
              <a:t>Dallan</a:t>
            </a:r>
            <a:r>
              <a:rPr lang="pt-BR" dirty="0"/>
              <a:t> do Couto – 10748144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952167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{D40EE1E3-6B0D-4F07-85E3-C06E51EDCA77}TFf0a5ceae-4542-492d-822e-d65a94fb0e1e14bf61b7_win32-45a160150e4b</Template>
  <TotalTime>102</TotalTime>
  <Words>164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Cambria Math</vt:lpstr>
      <vt:lpstr>Franklin Gothic Book</vt:lpstr>
      <vt:lpstr>Personalizado</vt:lpstr>
      <vt:lpstr>Analise de sentimento</vt:lpstr>
      <vt:lpstr>Agenda</vt:lpstr>
      <vt:lpstr>Dados disponíveis</vt:lpstr>
      <vt:lpstr>Distribuição geral dos dados</vt:lpstr>
      <vt:lpstr>Distribuição geral dos dados</vt:lpstr>
      <vt:lpstr>Distribuição geral dos dados</vt:lpstr>
      <vt:lpstr>Distribuição geral dos dados</vt:lpstr>
      <vt:lpstr>O modelo VADER</vt:lpstr>
      <vt:lpstr>O método VADER</vt:lpstr>
      <vt:lpstr>O método VADER</vt:lpstr>
      <vt:lpstr>Próximos passos</vt:lpstr>
      <vt:lpstr>Muito 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Sarmento, Henrique (Bip Group)</dc:creator>
  <cp:lastModifiedBy>Sarmento, Henrique (Bip Group)</cp:lastModifiedBy>
  <cp:revision>1</cp:revision>
  <dcterms:created xsi:type="dcterms:W3CDTF">2026-05-25T23:18:57Z</dcterms:created>
  <dcterms:modified xsi:type="dcterms:W3CDTF">2026-05-26T01:00:58Z</dcterms:modified>
</cp:coreProperties>
</file>